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18"/>
  </p:normalViewPr>
  <p:slideViewPr>
    <p:cSldViewPr snapToGrid="0" snapToObjects="1">
      <p:cViewPr varScale="1">
        <p:scale>
          <a:sx n="117" d="100"/>
          <a:sy n="117" d="100"/>
        </p:scale>
        <p:origin x="138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big-data/" TargetMode="External"/><Relationship Id="rId2" Type="http://schemas.openxmlformats.org/officeDocument/2006/relationships/hyperlink" Target="https://docs.databricks.com/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886"/>
            <a:ext cx="9144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06482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9A5E"/>
                </a:solidFill>
              </a:defRPr>
            </a:pPr>
            <a:r>
              <a:rPr dirty="0"/>
              <a:t>Databricks Data Lakehouse Architecture on 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32F3E"/>
                </a:solidFill>
              </a:defRPr>
            </a:pPr>
            <a:r>
              <a:t>Modern Cloud Data Platform for Analytics &amp;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9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66C9"/>
                </a:solidFill>
              </a:defRPr>
            </a:pPr>
            <a:r>
              <a:t>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400">
                <a:solidFill>
                  <a:srgbClr val="232F3E"/>
                </a:solidFill>
              </a:defRPr>
            </a:pPr>
            <a:r>
              <a:t>Unified Platform: Single platform for all data workloads</a:t>
            </a:r>
          </a:p>
          <a:p>
            <a:pPr>
              <a:spcAft>
                <a:spcPts val="800"/>
              </a:spcAft>
              <a:defRPr sz="1400">
                <a:solidFill>
                  <a:srgbClr val="232F3E"/>
                </a:solidFill>
              </a:defRPr>
            </a:pPr>
            <a:r>
              <a:t>Scalable &amp; Cost-Effective: Auto-scaling with pay-per-use pricing</a:t>
            </a:r>
          </a:p>
          <a:p>
            <a:pPr>
              <a:spcAft>
                <a:spcPts val="800"/>
              </a:spcAft>
              <a:defRPr sz="1400">
                <a:solidFill>
                  <a:srgbClr val="232F3E"/>
                </a:solidFill>
              </a:defRPr>
            </a:pPr>
            <a:r>
              <a:t>Data Quality: Progressive refinement (Bronze → Silver → Gold)</a:t>
            </a:r>
          </a:p>
          <a:p>
            <a:pPr>
              <a:spcAft>
                <a:spcPts val="800"/>
              </a:spcAft>
              <a:defRPr sz="1400">
                <a:solidFill>
                  <a:srgbClr val="232F3E"/>
                </a:solidFill>
              </a:defRPr>
            </a:pPr>
            <a:r>
              <a:t>Security-First: Multi-layered security with encryption and audit logging</a:t>
            </a:r>
          </a:p>
          <a:p>
            <a:pPr>
              <a:spcAft>
                <a:spcPts val="800"/>
              </a:spcAft>
              <a:defRPr sz="1400">
                <a:solidFill>
                  <a:srgbClr val="232F3E"/>
                </a:solidFill>
              </a:defRPr>
            </a:pPr>
            <a:r>
              <a:t>Real-Time Insights: Supports both batch and streaming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66C9"/>
                </a:solidFill>
              </a:defRPr>
            </a:pPr>
            <a:r>
              <a:t>Business Impact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400">
                <a:solidFill>
                  <a:srgbClr val="232F3E"/>
                </a:solidFill>
              </a:defRPr>
            </a:pPr>
            <a:r>
              <a:t>Faster time-to-insight for business users</a:t>
            </a:r>
          </a:p>
          <a:p>
            <a:pPr>
              <a:spcAft>
                <a:spcPts val="800"/>
              </a:spcAft>
              <a:defRPr sz="1400">
                <a:solidFill>
                  <a:srgbClr val="232F3E"/>
                </a:solidFill>
              </a:defRPr>
            </a:pPr>
            <a:r>
              <a:t>40-60% infrastructure cost reduction</a:t>
            </a:r>
          </a:p>
          <a:p>
            <a:pPr>
              <a:spcAft>
                <a:spcPts val="800"/>
              </a:spcAft>
              <a:defRPr sz="1400">
                <a:solidFill>
                  <a:srgbClr val="232F3E"/>
                </a:solidFill>
              </a:defRPr>
            </a:pPr>
            <a:r>
              <a:t>Self-service analytics without IT bottlenecks</a:t>
            </a:r>
          </a:p>
          <a:p>
            <a:pPr>
              <a:spcAft>
                <a:spcPts val="800"/>
              </a:spcAft>
              <a:defRPr sz="1400">
                <a:solidFill>
                  <a:srgbClr val="232F3E"/>
                </a:solidFill>
              </a:defRPr>
            </a:pPr>
            <a:r>
              <a:t>Foundation for AI/ML initiatives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6571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9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Understanding the Data Lakehouse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32F3E"/>
                </a:solidFill>
              </a:defRPr>
            </a:pPr>
            <a:r>
              <a:t>The Evolution of Data Platforms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4915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32F3E"/>
                </a:solidFill>
              </a:defRPr>
            </a:pPr>
            <a:r>
              <a:rPr dirty="0"/>
              <a:t>Data Lakehouse = Best of Both Worlds</a:t>
            </a:r>
          </a:p>
          <a:p>
            <a:endParaRPr dirty="0"/>
          </a:p>
          <a:p>
            <a:r>
              <a:rPr dirty="0"/>
              <a:t>Combines the flexibility and cost-effectiveness of data lakes with the reliability and performance of data warehouses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15685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9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High-Level Architecture Overview</a:t>
            </a: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21243ECA-2315-B475-350B-D26B772277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7772400" cy="4371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9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 Quality Progression: Bronze → Silver → Gold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66C9"/>
                </a:solidFill>
              </a:defRPr>
            </a:pPr>
            <a:r>
              <a:t>🥉 Bronze Zone - Raw Data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200">
                <a:solidFill>
                  <a:srgbClr val="232F3E"/>
                </a:solidFill>
              </a:defRPr>
            </a:pPr>
            <a:r>
              <a:t>Landing zone for all raw, unprocessed data</a:t>
            </a:r>
          </a:p>
          <a:p>
            <a:pPr>
              <a:spcAft>
                <a:spcPts val="800"/>
              </a:spcAft>
              <a:defRPr sz="1200">
                <a:solidFill>
                  <a:srgbClr val="232F3E"/>
                </a:solidFill>
              </a:defRPr>
            </a:pPr>
            <a:r>
              <a:t>Exact copy of source data</a:t>
            </a:r>
          </a:p>
          <a:p>
            <a:pPr>
              <a:spcAft>
                <a:spcPts val="800"/>
              </a:spcAft>
              <a:defRPr sz="1200">
                <a:solidFill>
                  <a:srgbClr val="232F3E"/>
                </a:solidFill>
              </a:defRPr>
            </a:pPr>
            <a:r>
              <a:t>Append-only, time-stamped, preserves original format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66C9"/>
                </a:solidFill>
              </a:defRPr>
            </a:pPr>
            <a:r>
              <a:t>🥈 Silver Zone - Validated Data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6576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200">
                <a:solidFill>
                  <a:srgbClr val="232F3E"/>
                </a:solidFill>
              </a:defRPr>
            </a:pPr>
            <a:r>
              <a:t>Cleaned and validated data</a:t>
            </a:r>
          </a:p>
          <a:p>
            <a:pPr>
              <a:spcAft>
                <a:spcPts val="800"/>
              </a:spcAft>
              <a:defRPr sz="1200">
                <a:solidFill>
                  <a:srgbClr val="232F3E"/>
                </a:solidFill>
              </a:defRPr>
            </a:pPr>
            <a:r>
              <a:t>Schema enforcement, deduplication, data quality checks</a:t>
            </a:r>
          </a:p>
          <a:p>
            <a:pPr>
              <a:spcAft>
                <a:spcPts val="800"/>
              </a:spcAft>
              <a:defRPr sz="1200">
                <a:solidFill>
                  <a:srgbClr val="232F3E"/>
                </a:solidFill>
              </a:defRPr>
            </a:pPr>
            <a:r>
              <a:t>Standardized formats, ready for business logic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9377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B66C9"/>
                </a:solidFill>
              </a:defRPr>
            </a:pPr>
            <a:r>
              <a:t>🥇 Gold Zone - Curated Data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035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200">
                <a:solidFill>
                  <a:srgbClr val="232F3E"/>
                </a:solidFill>
              </a:defRPr>
            </a:pPr>
            <a:r>
              <a:t>Business-ready, analytics-optimized data</a:t>
            </a:r>
          </a:p>
          <a:p>
            <a:pPr>
              <a:spcAft>
                <a:spcPts val="800"/>
              </a:spcAft>
              <a:defRPr sz="1200">
                <a:solidFill>
                  <a:srgbClr val="232F3E"/>
                </a:solidFill>
              </a:defRPr>
            </a:pPr>
            <a:r>
              <a:t>Aggregations, business logic, feature engineering</a:t>
            </a:r>
          </a:p>
          <a:p>
            <a:pPr>
              <a:spcAft>
                <a:spcPts val="800"/>
              </a:spcAft>
              <a:defRPr sz="1200">
                <a:solidFill>
                  <a:srgbClr val="232F3E"/>
                </a:solidFill>
              </a:defRPr>
            </a:pPr>
            <a:r>
              <a:t>Optimized for queries, serving layer for BI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9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How Data Enters the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66C9"/>
                </a:solidFill>
              </a:defRPr>
            </a:pPr>
            <a:r>
              <a:t>Data Sources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300">
                <a:solidFill>
                  <a:srgbClr val="232F3E"/>
                </a:solidFill>
              </a:defRPr>
            </a:pPr>
            <a:r>
              <a:t>On-Premises Oracle Database - Legacy enterprise databases</a:t>
            </a:r>
          </a:p>
          <a:p>
            <a:pPr>
              <a:spcAft>
                <a:spcPts val="800"/>
              </a:spcAft>
              <a:defRPr sz="1300">
                <a:solidFill>
                  <a:srgbClr val="232F3E"/>
                </a:solidFill>
              </a:defRPr>
            </a:pPr>
            <a:r>
              <a:t>REST APIs - Real-time data from external services</a:t>
            </a:r>
          </a:p>
          <a:p>
            <a:pPr>
              <a:spcAft>
                <a:spcPts val="800"/>
              </a:spcAft>
              <a:defRPr sz="1300">
                <a:solidFill>
                  <a:srgbClr val="232F3E"/>
                </a:solidFill>
              </a:defRPr>
            </a:pPr>
            <a:r>
              <a:t>CSV Files - Flat files from business systems</a:t>
            </a:r>
          </a:p>
          <a:p>
            <a:pPr>
              <a:spcAft>
                <a:spcPts val="800"/>
              </a:spcAft>
              <a:defRPr sz="1300">
                <a:solidFill>
                  <a:srgbClr val="232F3E"/>
                </a:solidFill>
              </a:defRPr>
            </a:pPr>
            <a:r>
              <a:t>External S3 - Partner data or external storage</a:t>
            </a:r>
          </a:p>
          <a:p>
            <a:pPr>
              <a:spcAft>
                <a:spcPts val="800"/>
              </a:spcAft>
              <a:defRPr sz="1300">
                <a:solidFill>
                  <a:srgbClr val="232F3E"/>
                </a:solidFill>
              </a:defRPr>
            </a:pPr>
            <a:r>
              <a:t>Streaming Data - IoT devices, clickstreams, logs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690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66C9"/>
                </a:solidFill>
              </a:defRPr>
            </a:pPr>
            <a:r>
              <a:rPr dirty="0"/>
              <a:t>AWS Ingestion Services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9768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300">
                <a:solidFill>
                  <a:srgbClr val="232F3E"/>
                </a:solidFill>
              </a:defRPr>
            </a:pPr>
            <a:r>
              <a:t>AWS DMS - Database migration (Oracle → Bronze Zone)</a:t>
            </a:r>
          </a:p>
          <a:p>
            <a:pPr>
              <a:spcAft>
                <a:spcPts val="800"/>
              </a:spcAft>
              <a:defRPr sz="1300">
                <a:solidFill>
                  <a:srgbClr val="232F3E"/>
                </a:solidFill>
              </a:defRPr>
            </a:pPr>
            <a:r>
              <a:t>API Gateway - API management (REST APIs → Lambda → Bronze)</a:t>
            </a:r>
          </a:p>
          <a:p>
            <a:pPr>
              <a:spcAft>
                <a:spcPts val="800"/>
              </a:spcAft>
              <a:defRPr sz="1300">
                <a:solidFill>
                  <a:srgbClr val="232F3E"/>
                </a:solidFill>
              </a:defRPr>
            </a:pPr>
            <a:r>
              <a:t>Lambda - Serverless compute for data transformation</a:t>
            </a:r>
          </a:p>
          <a:p>
            <a:pPr>
              <a:spcAft>
                <a:spcPts val="800"/>
              </a:spcAft>
              <a:defRPr sz="1300">
                <a:solidFill>
                  <a:srgbClr val="232F3E"/>
                </a:solidFill>
              </a:defRPr>
            </a:pPr>
            <a:r>
              <a:t>Transfer Family - Secure file transfer (CSV/Files → Bronze)</a:t>
            </a:r>
          </a:p>
          <a:p>
            <a:pPr>
              <a:spcAft>
                <a:spcPts val="800"/>
              </a:spcAft>
              <a:defRPr sz="1300">
                <a:solidFill>
                  <a:srgbClr val="232F3E"/>
                </a:solidFill>
              </a:defRPr>
            </a:pPr>
            <a:r>
              <a:t>Kinesis - Stream processing (Real-time events → Bronze)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9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Databricks - The Heart of Our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66C9"/>
                </a:solidFill>
              </a:defRPr>
            </a:pPr>
            <a:r>
              <a:t>Databricks = Unified Analytics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400">
                <a:solidFill>
                  <a:srgbClr val="232F3E"/>
                </a:solidFill>
              </a:defRPr>
            </a:pPr>
            <a:r>
              <a:t>🔧 Data Engineering: ETL/ELT pipelines, Auto Loader, Delta Lake</a:t>
            </a:r>
          </a:p>
          <a:p>
            <a:pPr>
              <a:spcAft>
                <a:spcPts val="800"/>
              </a:spcAft>
              <a:defRPr sz="1400">
                <a:solidFill>
                  <a:srgbClr val="232F3E"/>
                </a:solidFill>
              </a:defRPr>
            </a:pPr>
            <a:r>
              <a:t>🔬 Data Science &amp; ML: Notebooks, distributed training, MLflow</a:t>
            </a:r>
          </a:p>
          <a:p>
            <a:pPr>
              <a:spcAft>
                <a:spcPts val="800"/>
              </a:spcAft>
              <a:defRPr sz="1400">
                <a:solidFill>
                  <a:srgbClr val="232F3E"/>
                </a:solidFill>
              </a:defRPr>
            </a:pPr>
            <a:r>
              <a:t>📊 Business Analytics: Databricks SQL, dashboards, BI integration</a:t>
            </a:r>
          </a:p>
          <a:p>
            <a:pPr>
              <a:spcAft>
                <a:spcPts val="800"/>
              </a:spcAft>
              <a:defRPr sz="1400">
                <a:solidFill>
                  <a:srgbClr val="232F3E"/>
                </a:solidFill>
              </a:defRPr>
            </a:pPr>
            <a:r>
              <a:t>🎯 Real-Time Streaming: Structured Streaming, sub-second latency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9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Inside Databricks - Key Components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F3E"/>
                </a:solidFill>
              </a:defRPr>
            </a:pPr>
            <a:r>
              <a:t>• Unity Catalog: Centralized metadata and governance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F3E"/>
                </a:solidFill>
              </a:defRPr>
            </a:pPr>
            <a:r>
              <a:t>• Delta Lake Engine: ACID transaction layer for data lakes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F3E"/>
                </a:solidFill>
              </a:defRPr>
            </a:pPr>
            <a:r>
              <a:t>• Databricks SQL: SQL-based analytics interface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F3E"/>
                </a:solidFill>
              </a:defRPr>
            </a:pPr>
            <a:r>
              <a:t>• Workflows: Job orchestration and scheduling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F3E"/>
                </a:solidFill>
              </a:defRPr>
            </a:pPr>
            <a:r>
              <a:t>• Notebooks: Interactive development environment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F3E"/>
                </a:solidFill>
              </a:defRPr>
            </a:pPr>
            <a:r>
              <a:t>• MLflow: ML lifecycle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9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Bronze → Silver → Gold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66C9"/>
                </a:solidFill>
              </a:defRPr>
            </a:pPr>
            <a:r>
              <a:t>Step 1: Bronze → Silver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300">
                <a:solidFill>
                  <a:srgbClr val="232F3E"/>
                </a:solidFill>
              </a:defRPr>
            </a:pPr>
            <a:r>
              <a:t>Data validation and quality checks</a:t>
            </a:r>
          </a:p>
          <a:p>
            <a:pPr>
              <a:spcAft>
                <a:spcPts val="800"/>
              </a:spcAft>
              <a:defRPr sz="1300">
                <a:solidFill>
                  <a:srgbClr val="232F3E"/>
                </a:solidFill>
              </a:defRPr>
            </a:pPr>
            <a:r>
              <a:t>Schema enforcement and standardization</a:t>
            </a:r>
          </a:p>
          <a:p>
            <a:pPr>
              <a:spcAft>
                <a:spcPts val="800"/>
              </a:spcAft>
              <a:defRPr sz="1300">
                <a:solidFill>
                  <a:srgbClr val="232F3E"/>
                </a:solidFill>
              </a:defRPr>
            </a:pPr>
            <a:r>
              <a:t>Duplicate removal and basic cleansing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66C9"/>
                </a:solidFill>
              </a:defRPr>
            </a:pPr>
            <a:r>
              <a:t>Step 2: Silver → Gold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300">
                <a:solidFill>
                  <a:srgbClr val="232F3E"/>
                </a:solidFill>
              </a:defRPr>
            </a:pPr>
            <a:r>
              <a:t>Business logic application</a:t>
            </a:r>
          </a:p>
          <a:p>
            <a:pPr>
              <a:spcAft>
                <a:spcPts val="800"/>
              </a:spcAft>
              <a:defRPr sz="1300">
                <a:solidFill>
                  <a:srgbClr val="232F3E"/>
                </a:solidFill>
              </a:defRPr>
            </a:pPr>
            <a:r>
              <a:t>Data aggregations and summarizations</a:t>
            </a:r>
          </a:p>
          <a:p>
            <a:pPr>
              <a:spcAft>
                <a:spcPts val="800"/>
              </a:spcAft>
              <a:defRPr sz="1300">
                <a:solidFill>
                  <a:srgbClr val="232F3E"/>
                </a:solidFill>
              </a:defRPr>
            </a:pPr>
            <a:r>
              <a:t>Feature engineering for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3035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232F3E"/>
                </a:solidFill>
              </a:defRPr>
            </a:pPr>
            <a:r>
              <a:t>Orchestration: AWS Step Functions + Lambda + EventBridge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9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How Business Users Access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66C9"/>
                </a:solidFill>
              </a:defRPr>
            </a:pPr>
            <a:r>
              <a:t>Analytics Tools Connected to Gold Zone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300">
                <a:solidFill>
                  <a:srgbClr val="232F3E"/>
                </a:solidFill>
              </a:defRPr>
            </a:pPr>
            <a:r>
              <a:t>🤖 AI-Powered: ThoughtSpot (NLP search), AWS Bedrock (GenAI)</a:t>
            </a:r>
          </a:p>
          <a:p>
            <a:pPr>
              <a:spcAft>
                <a:spcPts val="800"/>
              </a:spcAft>
              <a:defRPr sz="1300">
                <a:solidFill>
                  <a:srgbClr val="232F3E"/>
                </a:solidFill>
              </a:defRPr>
            </a:pPr>
            <a:r>
              <a:t>🧪 Machine Learning: Amazon SageMaker, Databricks MLflow</a:t>
            </a:r>
          </a:p>
          <a:p>
            <a:pPr>
              <a:spcAft>
                <a:spcPts val="800"/>
              </a:spcAft>
              <a:defRPr sz="1300">
                <a:solidFill>
                  <a:srgbClr val="232F3E"/>
                </a:solidFill>
              </a:defRPr>
            </a:pPr>
            <a:r>
              <a:t>📊 Business Intelligence: QuickSight, Tableau, Power BI, Athena</a:t>
            </a:r>
          </a:p>
          <a:p>
            <a:pPr>
              <a:spcAft>
                <a:spcPts val="800"/>
              </a:spcAft>
              <a:defRPr sz="1300">
                <a:solidFill>
                  <a:srgbClr val="232F3E"/>
                </a:solidFill>
              </a:defRPr>
            </a:pPr>
            <a:r>
              <a:t>🏢 Data Warehouse: Amazon Redshift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66C9"/>
                </a:solidFill>
              </a:defRPr>
            </a:pPr>
            <a:r>
              <a:t>End User Access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572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300">
                <a:solidFill>
                  <a:srgbClr val="232F3E"/>
                </a:solidFill>
              </a:defRPr>
            </a:pPr>
            <a:r>
              <a:t>Business Users: Self-service analytics via BI tools</a:t>
            </a:r>
          </a:p>
          <a:p>
            <a:pPr>
              <a:spcAft>
                <a:spcPts val="800"/>
              </a:spcAft>
              <a:defRPr sz="1300">
                <a:solidFill>
                  <a:srgbClr val="232F3E"/>
                </a:solidFill>
              </a:defRPr>
            </a:pPr>
            <a:r>
              <a:t>Data Scientists: Model training in SageMaker/Notebooks</a:t>
            </a:r>
          </a:p>
          <a:p>
            <a:pPr>
              <a:spcAft>
                <a:spcPts val="800"/>
              </a:spcAft>
              <a:defRPr sz="1300">
                <a:solidFill>
                  <a:srgbClr val="232F3E"/>
                </a:solidFill>
              </a:defRPr>
            </a:pPr>
            <a:r>
              <a:t>Data Analysts: Ad-hoc SQL queries</a:t>
            </a:r>
          </a:p>
          <a:p>
            <a:pPr>
              <a:spcAft>
                <a:spcPts val="800"/>
              </a:spcAft>
              <a:defRPr sz="1300">
                <a:solidFill>
                  <a:srgbClr val="232F3E"/>
                </a:solidFill>
              </a:defRPr>
            </a:pPr>
            <a:r>
              <a:t>Applications: REST APIs for predictions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9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Multi-Layered Security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500">
                <a:solidFill>
                  <a:srgbClr val="232F3E"/>
                </a:solidFill>
              </a:defRPr>
            </a:pPr>
            <a:r>
              <a:t>🔐 Identity &amp; Access: IAM, Unity Catalog, Secrets Manager</a:t>
            </a:r>
          </a:p>
          <a:p>
            <a:pPr>
              <a:spcAft>
                <a:spcPts val="800"/>
              </a:spcAft>
              <a:defRPr sz="1500">
                <a:solidFill>
                  <a:srgbClr val="232F3E"/>
                </a:solidFill>
              </a:defRPr>
            </a:pPr>
            <a:r>
              <a:t>🔒 Data Encryption: KMS (at rest), TLS/HTTPS (in transit)</a:t>
            </a:r>
          </a:p>
          <a:p>
            <a:pPr>
              <a:spcAft>
                <a:spcPts val="800"/>
              </a:spcAft>
              <a:defRPr sz="1500">
                <a:solidFill>
                  <a:srgbClr val="232F3E"/>
                </a:solidFill>
              </a:defRPr>
            </a:pPr>
            <a:r>
              <a:t>📋 Governance &amp; Compliance: Unity Catalog, Lake Formation, Config</a:t>
            </a:r>
          </a:p>
          <a:p>
            <a:pPr>
              <a:spcAft>
                <a:spcPts val="800"/>
              </a:spcAft>
              <a:defRPr sz="1500">
                <a:solidFill>
                  <a:srgbClr val="232F3E"/>
                </a:solidFill>
              </a:defRPr>
            </a:pPr>
            <a:r>
              <a:t>📝 Audit &amp; Monitoring: CloudTrail, Unity Catalog Audit Logs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232F3E"/>
                </a:solidFill>
              </a:defRPr>
            </a:pPr>
            <a:r>
              <a:t>Security is built into every layer - from data ingestion to consumption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9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Observability &amp; Operational Excellence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500">
                <a:solidFill>
                  <a:srgbClr val="232F3E"/>
                </a:solidFill>
              </a:defRPr>
            </a:pPr>
            <a:r>
              <a:t>📊 Metrics &amp; Logging: CloudWatch (centralized logging and metrics)</a:t>
            </a:r>
          </a:p>
          <a:p>
            <a:pPr>
              <a:spcAft>
                <a:spcPts val="800"/>
              </a:spcAft>
              <a:defRPr sz="1500">
                <a:solidFill>
                  <a:srgbClr val="232F3E"/>
                </a:solidFill>
              </a:defRPr>
            </a:pPr>
            <a:r>
              <a:t>🔍 Distributed Tracing: X-Ray (end-to-end request tracing)</a:t>
            </a:r>
          </a:p>
          <a:p>
            <a:pPr>
              <a:spcAft>
                <a:spcPts val="800"/>
              </a:spcAft>
              <a:defRPr sz="1500">
                <a:solidFill>
                  <a:srgbClr val="232F3E"/>
                </a:solidFill>
              </a:defRPr>
            </a:pPr>
            <a:r>
              <a:t>🔔 Alerting: SNS (email/SMS/Slack), EventBridge (automation)</a:t>
            </a:r>
          </a:p>
          <a:p>
            <a:pPr>
              <a:spcAft>
                <a:spcPts val="800"/>
              </a:spcAft>
              <a:defRPr sz="1500">
                <a:solidFill>
                  <a:srgbClr val="232F3E"/>
                </a:solidFill>
              </a:defRPr>
            </a:pPr>
            <a:r>
              <a:t>⚙️ Infrastructure: Systems Manager (configuration and patching)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9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End-to-End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500">
                <a:solidFill>
                  <a:srgbClr val="232F3E"/>
                </a:solidFill>
              </a:defRPr>
            </a:pPr>
            <a:r>
              <a:t>1️⃣ Data Ingestion: Sources → AWS Services → Bronze Zone</a:t>
            </a:r>
          </a:p>
          <a:p>
            <a:pPr>
              <a:spcAft>
                <a:spcPts val="800"/>
              </a:spcAft>
              <a:defRPr sz="1500">
                <a:solidFill>
                  <a:srgbClr val="232F3E"/>
                </a:solidFill>
              </a:defRPr>
            </a:pPr>
            <a:r>
              <a:t>2️⃣ Data Validation: Bronze → Databricks → Silver Zone</a:t>
            </a:r>
          </a:p>
          <a:p>
            <a:pPr>
              <a:spcAft>
                <a:spcPts val="800"/>
              </a:spcAft>
              <a:defRPr sz="1500">
                <a:solidFill>
                  <a:srgbClr val="232F3E"/>
                </a:solidFill>
              </a:defRPr>
            </a:pPr>
            <a:r>
              <a:t>3️⃣ Data Curation: Silver → Databricks → Gold Zone</a:t>
            </a:r>
          </a:p>
          <a:p>
            <a:pPr>
              <a:spcAft>
                <a:spcPts val="800"/>
              </a:spcAft>
              <a:defRPr sz="1500">
                <a:solidFill>
                  <a:srgbClr val="232F3E"/>
                </a:solidFill>
              </a:defRPr>
            </a:pPr>
            <a:r>
              <a:t>4️⃣ Analytics: Gold → BI Tools/ML Platforms → Insights</a:t>
            </a:r>
          </a:p>
          <a:p>
            <a:pPr>
              <a:spcAft>
                <a:spcPts val="800"/>
              </a:spcAft>
              <a:defRPr sz="1500">
                <a:solidFill>
                  <a:srgbClr val="232F3E"/>
                </a:solidFill>
              </a:defRPr>
            </a:pPr>
            <a:r>
              <a:t>5️⃣ Governance: Unity Catalog + Lake Formation</a:t>
            </a:r>
          </a:p>
          <a:p>
            <a:pPr>
              <a:spcAft>
                <a:spcPts val="800"/>
              </a:spcAft>
              <a:defRPr sz="1500">
                <a:solidFill>
                  <a:srgbClr val="232F3E"/>
                </a:solidFill>
              </a:defRPr>
            </a:pPr>
            <a:r>
              <a:t>6️⃣ Monitoring: CloudWatch + X-Ray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i="1">
                <a:solidFill>
                  <a:srgbClr val="232F3E"/>
                </a:solidFill>
              </a:defRPr>
            </a:pPr>
            <a:r>
              <a:t>Timeline: Raw data → Analytics-ready in hours (batch) or seconds (streaming)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9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Real-World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F3E"/>
                </a:solidFill>
              </a:defRPr>
            </a:pPr>
            <a:r>
              <a:t>• Real-Time Analytics: Monitor customer behavior with live dashboards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F3E"/>
                </a:solidFill>
              </a:defRPr>
            </a:pPr>
            <a:r>
              <a:t>• Machine Learning &amp; AI: Predict customer churn proactively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F3E"/>
                </a:solidFill>
              </a:defRPr>
            </a:pPr>
            <a:r>
              <a:t>• Data Warehouse Modernization: 60% cost reduction, 10x faster queries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F3E"/>
                </a:solidFill>
              </a:defRPr>
            </a:pPr>
            <a:r>
              <a:t>• Self-Service Analytics: Empower users without IT bottlenecks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32F3E"/>
                </a:solidFill>
              </a:defRPr>
            </a:pPr>
            <a:r>
              <a:t>• Regulatory Compliance: Complete audit trail for GDPR/SOC2/HIPAA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9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This Architecture?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66C9"/>
                </a:solidFill>
              </a:defRPr>
            </a:pPr>
            <a:r>
              <a:t>Technical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300">
                <a:solidFill>
                  <a:srgbClr val="232F3E"/>
                </a:solidFill>
              </a:defRPr>
            </a:pPr>
            <a:r>
              <a:t>⚡ Performance: 10-100x faster queries with Delta Lake</a:t>
            </a:r>
          </a:p>
          <a:p>
            <a:pPr>
              <a:spcAft>
                <a:spcPts val="800"/>
              </a:spcAft>
              <a:defRPr sz="1300">
                <a:solidFill>
                  <a:srgbClr val="232F3E"/>
                </a:solidFill>
              </a:defRPr>
            </a:pPr>
            <a:r>
              <a:t>📈 Scalability: Auto-scaling to petabyte-scale</a:t>
            </a:r>
          </a:p>
          <a:p>
            <a:pPr>
              <a:spcAft>
                <a:spcPts val="800"/>
              </a:spcAft>
              <a:defRPr sz="1300">
                <a:solidFill>
                  <a:srgbClr val="232F3E"/>
                </a:solidFill>
              </a:defRPr>
            </a:pPr>
            <a:r>
              <a:t>💰 Cost: 40-60% savings vs traditional data warehouses</a:t>
            </a:r>
          </a:p>
          <a:p>
            <a:pPr>
              <a:spcAft>
                <a:spcPts val="800"/>
              </a:spcAft>
              <a:defRPr sz="1300">
                <a:solidFill>
                  <a:srgbClr val="232F3E"/>
                </a:solidFill>
              </a:defRPr>
            </a:pPr>
            <a:r>
              <a:t>🔄 Flexibility: All data formats, multiple languages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66C9"/>
                </a:solidFill>
              </a:defRPr>
            </a:pPr>
            <a:r>
              <a:t>Business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8912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300">
                <a:solidFill>
                  <a:srgbClr val="232F3E"/>
                </a:solidFill>
              </a:defRPr>
            </a:pPr>
            <a:r>
              <a:t>📊 Unified Analytics: Single platform eliminates silos</a:t>
            </a:r>
          </a:p>
          <a:p>
            <a:pPr>
              <a:spcAft>
                <a:spcPts val="800"/>
              </a:spcAft>
              <a:defRPr sz="1300">
                <a:solidFill>
                  <a:srgbClr val="232F3E"/>
                </a:solidFill>
              </a:defRPr>
            </a:pPr>
            <a:r>
              <a:t>🚀 Faster Insights: Self-service without IT bottlenecks</a:t>
            </a:r>
          </a:p>
          <a:p>
            <a:pPr>
              <a:spcAft>
                <a:spcPts val="800"/>
              </a:spcAft>
              <a:defRPr sz="1300">
                <a:solidFill>
                  <a:srgbClr val="232F3E"/>
                </a:solidFill>
              </a:defRPr>
            </a:pPr>
            <a:r>
              <a:t>🤝 Collaboration: Shared notebooks and workflows</a:t>
            </a:r>
          </a:p>
          <a:p>
            <a:pPr>
              <a:spcAft>
                <a:spcPts val="800"/>
              </a:spcAft>
              <a:defRPr sz="1300">
                <a:solidFill>
                  <a:srgbClr val="232F3E"/>
                </a:solidFill>
              </a:defRPr>
            </a:pPr>
            <a:r>
              <a:t>🎯 AI/ML Ready: Foundation for AI initiatives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9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Complete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400">
                <a:solidFill>
                  <a:srgbClr val="232F3E"/>
                </a:solidFill>
              </a:defRPr>
            </a:pPr>
            <a:r>
              <a:t>AWS Infrastructure: Lambda, S3, IAM, KMS, CloudWatch, Step Functions</a:t>
            </a:r>
          </a:p>
          <a:p>
            <a:pPr>
              <a:spcAft>
                <a:spcPts val="800"/>
              </a:spcAft>
              <a:defRPr sz="1400">
                <a:solidFill>
                  <a:srgbClr val="232F3E"/>
                </a:solidFill>
              </a:defRPr>
            </a:pPr>
            <a:r>
              <a:t>Databricks Platform: Spark, Delta Lake, Unity Catalog, MLflow</a:t>
            </a:r>
          </a:p>
          <a:p>
            <a:pPr>
              <a:spcAft>
                <a:spcPts val="800"/>
              </a:spcAft>
              <a:defRPr sz="1400">
                <a:solidFill>
                  <a:srgbClr val="232F3E"/>
                </a:solidFill>
              </a:defRPr>
            </a:pPr>
            <a:r>
              <a:t>Analytics &amp; BI: SageMaker, Bedrock, QuickSight, Athena, Redshift</a:t>
            </a:r>
          </a:p>
          <a:p>
            <a:pPr>
              <a:spcAft>
                <a:spcPts val="800"/>
              </a:spcAft>
              <a:defRPr sz="1400">
                <a:solidFill>
                  <a:srgbClr val="232F3E"/>
                </a:solidFill>
              </a:defRPr>
            </a:pPr>
            <a:r>
              <a:t>Integration: DMS, Kinesis, API Gateway, Transfer Family, EventBridge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232F3E"/>
                </a:solidFill>
              </a:defRPr>
            </a:pPr>
            <a:r>
              <a:t>Best-of-breed technologies integrated into a cohesive platform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9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spcAft>
                <a:spcPts val="800"/>
              </a:spcAft>
              <a:defRPr sz="1500">
                <a:solidFill>
                  <a:srgbClr val="232F3E"/>
                </a:solidFill>
              </a:defRPr>
            </a:pPr>
            <a:r>
              <a:t>1️⃣ Unified Platform: Single platform for data engineering, data science, and analytics</a:t>
            </a:r>
          </a:p>
          <a:p>
            <a:pPr>
              <a:spcAft>
                <a:spcPts val="800"/>
              </a:spcAft>
              <a:defRPr sz="1500">
                <a:solidFill>
                  <a:srgbClr val="232F3E"/>
                </a:solidFill>
              </a:defRPr>
            </a:pPr>
            <a:r>
              <a:t>2️⃣ Progressive Quality: Bronze → Silver → Gold ensures data reliability</a:t>
            </a:r>
          </a:p>
          <a:p>
            <a:pPr>
              <a:spcAft>
                <a:spcPts val="800"/>
              </a:spcAft>
              <a:defRPr sz="1500">
                <a:solidFill>
                  <a:srgbClr val="232F3E"/>
                </a:solidFill>
              </a:defRPr>
            </a:pPr>
            <a:r>
              <a:t>3️⃣ Cloud-Native: Auto-scaling infrastructure, pay-per-use pricing</a:t>
            </a:r>
          </a:p>
          <a:p>
            <a:pPr>
              <a:spcAft>
                <a:spcPts val="800"/>
              </a:spcAft>
              <a:defRPr sz="1500">
                <a:solidFill>
                  <a:srgbClr val="232F3E"/>
                </a:solidFill>
              </a:defRPr>
            </a:pPr>
            <a:r>
              <a:t>4️⃣ Security-First: Multi-layered security with complete audit trail</a:t>
            </a:r>
          </a:p>
          <a:p>
            <a:pPr>
              <a:spcAft>
                <a:spcPts val="800"/>
              </a:spcAft>
              <a:defRPr sz="1500">
                <a:solidFill>
                  <a:srgbClr val="232F3E"/>
                </a:solidFill>
              </a:defRPr>
            </a:pPr>
            <a:r>
              <a:t>5️⃣ Business Enablement: Self-service analytics and AI/ML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i="1">
                <a:solidFill>
                  <a:srgbClr val="232F3E"/>
                </a:solidFill>
              </a:defRPr>
            </a:pPr>
            <a:r>
              <a:rPr dirty="0"/>
              <a:t>The </a:t>
            </a:r>
            <a:r>
              <a:rPr dirty="0" err="1"/>
              <a:t>lakehouse</a:t>
            </a:r>
            <a:r>
              <a:rPr dirty="0"/>
              <a:t> is a journey, not a destination.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10886"/>
            <a:ext cx="9144000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9A5E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71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B66C9"/>
                </a:solidFill>
              </a:defRPr>
            </a:pPr>
            <a:r>
              <a:rPr dirty="0"/>
              <a:t>📚 Additional Resources</a:t>
            </a:r>
          </a:p>
        </p:txBody>
      </p:sp>
      <p:sp>
        <p:nvSpPr>
          <p:cNvPr id="5" name="TextBox 4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31520" y="3291840"/>
            <a:ext cx="7772400" cy="595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232F3E"/>
                </a:solidFill>
              </a:defRPr>
            </a:pPr>
            <a:r>
              <a:rPr dirty="0"/>
              <a:t>Databricks Docs</a:t>
            </a:r>
            <a:r>
              <a:rPr dirty="0">
                <a:hlinkClick r:id="rId2"/>
              </a:rPr>
              <a:t>: https://</a:t>
            </a:r>
            <a:r>
              <a:rPr dirty="0" err="1">
                <a:hlinkClick r:id="rId2"/>
              </a:rPr>
              <a:t>docs.databricks.com</a:t>
            </a:r>
            <a:r>
              <a:rPr dirty="0">
                <a:hlinkClick r:id="rId2"/>
              </a:rPr>
              <a:t>/</a:t>
            </a:r>
            <a:endParaRPr dirty="0"/>
          </a:p>
          <a:p>
            <a:pPr>
              <a:spcAft>
                <a:spcPts val="800"/>
              </a:spcAft>
              <a:defRPr sz="1300">
                <a:solidFill>
                  <a:srgbClr val="232F3E"/>
                </a:solidFill>
              </a:defRPr>
            </a:pPr>
            <a:r>
              <a:rPr dirty="0"/>
              <a:t>AWS Lakehouse: </a:t>
            </a:r>
            <a:r>
              <a:rPr dirty="0">
                <a:hlinkClick r:id="rId3"/>
              </a:rPr>
              <a:t>https://</a:t>
            </a:r>
            <a:r>
              <a:rPr dirty="0" err="1">
                <a:hlinkClick r:id="rId3"/>
              </a:rPr>
              <a:t>aws.amazon.com</a:t>
            </a:r>
            <a:r>
              <a:rPr dirty="0">
                <a:hlinkClick r:id="rId3"/>
              </a:rPr>
              <a:t>/big-data/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1047</Words>
  <Application>Microsoft Macintosh PowerPoint</Application>
  <PresentationFormat>On-screen Show (4:3)</PresentationFormat>
  <Paragraphs>152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jessay antony</cp:lastModifiedBy>
  <cp:revision>8</cp:revision>
  <dcterms:created xsi:type="dcterms:W3CDTF">2013-01-27T09:14:16Z</dcterms:created>
  <dcterms:modified xsi:type="dcterms:W3CDTF">2025-11-07T14:50:36Z</dcterms:modified>
  <cp:category/>
</cp:coreProperties>
</file>